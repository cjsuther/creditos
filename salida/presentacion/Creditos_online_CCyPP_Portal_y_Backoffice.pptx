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46582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circuito completo. Lo importante: no hay dos sistemas ni dos calculadoras. El portal público y el back office usan el mismo backend FastAPI, la misma base Postgres y la misma función de cronograma. Lo que el ciudadano simula es lo que después firma.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Arquitectura en una lámina. Dos front-ends, un backend, una base. Mi Catamarca es sólo identidad: confirma que la persona existe; los datos laborales los declara el ciudadano y los valida el asesor con la documentación adjunta.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Primera pantalla del portal. Único punto de entrada: Mi Catamarca. Es un login OIDC estándar, con cliente confidencial: el código de autorización lo canjea el backend, el navegador nunca ve secretos.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Paso 1. Todo lo que el asesor necesita para evaluar, cargado por el propio ciudadano. La documentación se adjunta acá mismo y viaja con la solicitud.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Paso 2. Acá está la experiencia fintech: pre-aprobado, sliders y cuota en vivo. La elegibilidad es la misma función que usa el asesor, con el canal WEB. Si no califica se lo dice, pero puede enviar igual para revisión.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Transparencia total: el cronograma completo está a un clic, con impuestos y cargos desglosados. Es el mismo cronograma que va a quedar congelado en el contrato.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Paso 3. Confirmación. Dos detalles de robustez: la clave de idempotencia (no hay solicitudes duplicadas por reintentos) y la numeración única arbitrada por la constraint de la 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Después de enviar, el ciudadano cae en Mis solicitudes con el mensaje de confirmación y el número. El detalle abre con el stepper: cada paso sale del estado real de la solicitud en el 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Cerramos el ciclo: cuando la Caja liquida, el crédito aparece en Mis créditos con su servicing en tiempo real, leído del event-sourcing del contrato.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mayoría de los ciudadanos va a entrar desde el teléfono. El wizard, los sliders y las tablas se adaptan; el modo oscuro sigue la preferencia del dispositivo.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misma solicitud que enviamos desde el portal, vista por el asesor. Notar la evaluación automática con los motivos, los documentos adjuntos y el checklist 'listo para liquidar' que bloquea la originación si faltan 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Separación de funciones real. El emisor no aprueba; los niveles se configuran por objeto. Hoy, con un solo administrador, algunos circuitos están inactivos para no trabar la demo; se activan al sumar un segundo aprobador.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 lado operativo: originar desde una solicitud web siempre deja el contrato A LIQUIDAR; el desembolso se hace por lote, con su asiento contable balanceado. Después, el servicing es event-sourced: la verdad son las actividades y el estado se recalcula.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Modelo tipo Temenos AA: cada línea es un conjunto de componentes tipados, versionado y publicado con cuatro ojos. El componente 'Disponibilidad' es el que decide qué se ofrece en el portal.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Visión de gestión y cobranza. Todo sale de las mismas actividades del contrato, así que el tablero y el portal siempre cuentan la misma historia.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Seguridad: IAM con roles y permisos, y una auditoría de cambios que registra también lo que hace el ciudadano desde el portal (login, alta de solicitud, documentos).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 es lo que garantiza que el sistema siga siendo consistente cuando crezca: los principios se consultan en la app, el DER se genera desde la base real y cada bug suma su caso de prueba.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2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258"/>
          </a:solidFill>
          <a:ln/>
        </p:spPr>
        <p:txBody>
          <a:bodyPr/>
          <a:lstStyle/>
          <a:p>
            <a:endParaRPr lang="en-AR"/>
          </a:p>
        </p:txBody>
      </p:sp>
      <p:sp>
        <p:nvSpPr>
          <p:cNvPr id="3" name="Text 1"/>
          <p:cNvSpPr txBox="1"/>
          <p:nvPr/>
        </p:nvSpPr>
        <p:spPr>
          <a:xfrm>
            <a:off x="731520" y="137160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Créditos online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24028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del ciudadano y Back office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10896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un ciudadano de Catamarca simula, solicita y sigue su crédito desde el celular, y cómo la Caja lo evalúa, aprueba y liquida desde el sistema nuevo.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4663440"/>
            <a:ext cx="4023360" cy="292608"/>
          </a:xfrm>
          <a:prstGeom prst="roundRect">
            <a:avLst>
              <a:gd name="adj" fmla="val 50000"/>
            </a:avLst>
          </a:prstGeom>
          <a:solidFill>
            <a:srgbClr val="81BC26"/>
          </a:solidFill>
          <a:ln w="12700">
            <a:solidFill>
              <a:srgbClr val="81BC26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7" name="Text 5"/>
          <p:cNvSpPr txBox="1"/>
          <p:nvPr/>
        </p:nvSpPr>
        <p:spPr>
          <a:xfrm>
            <a:off x="731520" y="46634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 de Crédito y Prestaciones de Catamarca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074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Septiembre 2026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775704" y="740664"/>
            <a:ext cx="2573018" cy="5376672"/>
          </a:xfrm>
          <a:prstGeom prst="roundRect">
            <a:avLst>
              <a:gd name="adj" fmla="val 12438"/>
            </a:avLst>
          </a:prstGeom>
          <a:solidFill>
            <a:srgbClr val="17202E"/>
          </a:solidFill>
          <a:ln w="12700">
            <a:solidFill>
              <a:srgbClr val="17202E"/>
            </a:solidFill>
            <a:prstDash val="solid"/>
          </a:ln>
          <a:effectLst>
            <a:outerShdw blurRad="1524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AR"/>
          </a:p>
        </p:txBody>
      </p:sp>
      <p:pic>
        <p:nvPicPr>
          <p:cNvPr id="10" name="Image 0" descr="img/m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822960"/>
            <a:ext cx="2408426" cy="52120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9564624" y="1289304"/>
            <a:ext cx="2446258" cy="5102352"/>
          </a:xfrm>
          <a:prstGeom prst="roundRect">
            <a:avLst>
              <a:gd name="adj" fmla="val 13083"/>
            </a:avLst>
          </a:prstGeom>
          <a:solidFill>
            <a:srgbClr val="17202E"/>
          </a:solidFill>
          <a:ln w="12700">
            <a:solidFill>
              <a:srgbClr val="17202E"/>
            </a:solidFill>
            <a:prstDash val="solid"/>
          </a:ln>
          <a:effectLst>
            <a:outerShdw blurRad="1524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AR"/>
          </a:p>
        </p:txBody>
      </p:sp>
      <p:pic>
        <p:nvPicPr>
          <p:cNvPr id="12" name="Image 1" descr="img/m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920" y="1371600"/>
            <a:ext cx="2281666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circuito completo, de punta a punta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sistema: el portal público y el back office comparten backend, base de datos y motor de cálculo.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536192" cy="2926080"/>
          </a:xfrm>
          <a:prstGeom prst="roundRect">
            <a:avLst>
              <a:gd name="adj" fmla="val 714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365760" cy="365760"/>
          </a:xfrm>
          <a:prstGeom prst="ellipse">
            <a:avLst/>
          </a:prstGeom>
          <a:solidFill>
            <a:srgbClr val="81BC26"/>
          </a:solidFill>
          <a:ln w="12700">
            <a:solidFill>
              <a:srgbClr val="81BC26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6" name="Text 4"/>
          <p:cNvSpPr txBox="1"/>
          <p:nvPr/>
        </p:nvSpPr>
        <p:spPr>
          <a:xfrm>
            <a:off x="73152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8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0604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017520"/>
            <a:ext cx="11704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Catamarca valida la identidad del ciudadano (OIDC).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011680" y="31089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2157984" y="1920240"/>
            <a:ext cx="1536192" cy="2926080"/>
          </a:xfrm>
          <a:prstGeom prst="roundRect">
            <a:avLst>
              <a:gd name="adj" fmla="val 714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1" name="Shape 9"/>
          <p:cNvSpPr/>
          <p:nvPr/>
        </p:nvSpPr>
        <p:spPr>
          <a:xfrm>
            <a:off x="2340864" y="2103120"/>
            <a:ext cx="365760" cy="365760"/>
          </a:xfrm>
          <a:prstGeom prst="ellipse">
            <a:avLst/>
          </a:prstGeom>
          <a:solidFill>
            <a:srgbClr val="81BC26"/>
          </a:solidFill>
          <a:ln w="12700">
            <a:solidFill>
              <a:srgbClr val="81BC26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2" name="Text 10"/>
          <p:cNvSpPr txBox="1"/>
          <p:nvPr/>
        </p:nvSpPr>
        <p:spPr>
          <a:xfrm>
            <a:off x="2340864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80" dirty="0"/>
          </a:p>
        </p:txBody>
      </p:sp>
      <p:sp>
        <p:nvSpPr>
          <p:cNvPr id="13" name="Text 11"/>
          <p:cNvSpPr txBox="1"/>
          <p:nvPr/>
        </p:nvSpPr>
        <p:spPr>
          <a:xfrm>
            <a:off x="2340864" y="260604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340864" y="3017520"/>
            <a:ext cx="11704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publicados por la Caja; cuota en vivo y pre-aprobado.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3621024" y="31089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3767328" y="1920240"/>
            <a:ext cx="1536192" cy="2926080"/>
          </a:xfrm>
          <a:prstGeom prst="roundRect">
            <a:avLst>
              <a:gd name="adj" fmla="val 714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7" name="Shape 15"/>
          <p:cNvSpPr/>
          <p:nvPr/>
        </p:nvSpPr>
        <p:spPr>
          <a:xfrm>
            <a:off x="3950208" y="2103120"/>
            <a:ext cx="365760" cy="365760"/>
          </a:xfrm>
          <a:prstGeom prst="ellipse">
            <a:avLst/>
          </a:prstGeom>
          <a:solidFill>
            <a:srgbClr val="81BC26"/>
          </a:solidFill>
          <a:ln w="12700">
            <a:solidFill>
              <a:srgbClr val="81BC26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8" name="Text 16"/>
          <p:cNvSpPr txBox="1"/>
          <p:nvPr/>
        </p:nvSpPr>
        <p:spPr>
          <a:xfrm>
            <a:off x="3950208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80" dirty="0"/>
          </a:p>
        </p:txBody>
      </p:sp>
      <p:sp>
        <p:nvSpPr>
          <p:cNvPr id="19" name="Text 17"/>
          <p:cNvSpPr txBox="1"/>
          <p:nvPr/>
        </p:nvSpPr>
        <p:spPr>
          <a:xfrm>
            <a:off x="3950208" y="260604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950208" y="3017520"/>
            <a:ext cx="11704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Datos, documentación, CBU y consentimientos. Número único.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230368" y="31089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5376672" y="1920240"/>
            <a:ext cx="1536192" cy="2926080"/>
          </a:xfrm>
          <a:prstGeom prst="roundRect">
            <a:avLst>
              <a:gd name="adj" fmla="val 7143"/>
            </a:avLst>
          </a:prstGeom>
          <a:solidFill>
            <a:srgbClr val="E9F4D6"/>
          </a:solidFill>
          <a:ln w="12700">
            <a:solidFill>
              <a:srgbClr val="E9F4D6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23" name="Shape 21"/>
          <p:cNvSpPr/>
          <p:nvPr/>
        </p:nvSpPr>
        <p:spPr>
          <a:xfrm>
            <a:off x="5559552" y="2103120"/>
            <a:ext cx="365760" cy="365760"/>
          </a:xfrm>
          <a:prstGeom prst="ellipse">
            <a:avLst/>
          </a:prstGeom>
          <a:solidFill>
            <a:srgbClr val="81BC26"/>
          </a:solidFill>
          <a:ln w="12700">
            <a:solidFill>
              <a:srgbClr val="81BC26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24" name="Text 22"/>
          <p:cNvSpPr txBox="1"/>
          <p:nvPr/>
        </p:nvSpPr>
        <p:spPr>
          <a:xfrm>
            <a:off x="5559552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80" dirty="0"/>
          </a:p>
        </p:txBody>
      </p:sp>
      <p:sp>
        <p:nvSpPr>
          <p:cNvPr id="25" name="Text 23"/>
          <p:cNvSpPr txBox="1"/>
          <p:nvPr/>
        </p:nvSpPr>
        <p:spPr>
          <a:xfrm>
            <a:off x="5559552" y="260604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5559552" y="3017520"/>
            <a:ext cx="11704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asesor la ve en Solicitudes de crédito; elegibilidad automática.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6839712" y="31089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6986016" y="1920240"/>
            <a:ext cx="1536192" cy="2926080"/>
          </a:xfrm>
          <a:prstGeom prst="roundRect">
            <a:avLst>
              <a:gd name="adj" fmla="val 7143"/>
            </a:avLst>
          </a:prstGeom>
          <a:solidFill>
            <a:srgbClr val="E9F4D6"/>
          </a:solidFill>
          <a:ln w="12700">
            <a:solidFill>
              <a:srgbClr val="E9F4D6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29" name="Shape 27"/>
          <p:cNvSpPr/>
          <p:nvPr/>
        </p:nvSpPr>
        <p:spPr>
          <a:xfrm>
            <a:off x="7168896" y="2103120"/>
            <a:ext cx="365760" cy="365760"/>
          </a:xfrm>
          <a:prstGeom prst="ellipse">
            <a:avLst/>
          </a:prstGeom>
          <a:solidFill>
            <a:srgbClr val="81BC26"/>
          </a:solidFill>
          <a:ln w="12700">
            <a:solidFill>
              <a:srgbClr val="81BC26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30" name="Text 28"/>
          <p:cNvSpPr txBox="1"/>
          <p:nvPr/>
        </p:nvSpPr>
        <p:spPr>
          <a:xfrm>
            <a:off x="7168896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80" dirty="0"/>
          </a:p>
        </p:txBody>
      </p:sp>
      <p:sp>
        <p:nvSpPr>
          <p:cNvPr id="31" name="Text 29"/>
          <p:cNvSpPr txBox="1"/>
          <p:nvPr/>
        </p:nvSpPr>
        <p:spPr>
          <a:xfrm>
            <a:off x="7168896" y="260604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Aprobación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168896" y="3017520"/>
            <a:ext cx="11704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Cuatro-ojos configurable: el que emite no aprueba.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449056" y="31089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8595360" y="1920240"/>
            <a:ext cx="1536192" cy="2926080"/>
          </a:xfrm>
          <a:prstGeom prst="roundRect">
            <a:avLst>
              <a:gd name="adj" fmla="val 7143"/>
            </a:avLst>
          </a:prstGeom>
          <a:solidFill>
            <a:srgbClr val="E9F4D6"/>
          </a:solidFill>
          <a:ln w="12700">
            <a:solidFill>
              <a:srgbClr val="E9F4D6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35" name="Shape 33"/>
          <p:cNvSpPr/>
          <p:nvPr/>
        </p:nvSpPr>
        <p:spPr>
          <a:xfrm>
            <a:off x="8778240" y="2103120"/>
            <a:ext cx="365760" cy="365760"/>
          </a:xfrm>
          <a:prstGeom prst="ellipse">
            <a:avLst/>
          </a:prstGeom>
          <a:solidFill>
            <a:srgbClr val="81BC26"/>
          </a:solidFill>
          <a:ln w="12700">
            <a:solidFill>
              <a:srgbClr val="81BC26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36" name="Text 34"/>
          <p:cNvSpPr txBox="1"/>
          <p:nvPr/>
        </p:nvSpPr>
        <p:spPr>
          <a:xfrm>
            <a:off x="877824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80" dirty="0"/>
          </a:p>
        </p:txBody>
      </p:sp>
      <p:sp>
        <p:nvSpPr>
          <p:cNvPr id="37" name="Text 35"/>
          <p:cNvSpPr txBox="1"/>
          <p:nvPr/>
        </p:nvSpPr>
        <p:spPr>
          <a:xfrm>
            <a:off x="8778240" y="260604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Liquidación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8778240" y="3017520"/>
            <a:ext cx="11704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Originación → lote del día → desembolso y asiento contable.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10058400" y="31089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40" name="Shape 38"/>
          <p:cNvSpPr/>
          <p:nvPr/>
        </p:nvSpPr>
        <p:spPr>
          <a:xfrm>
            <a:off x="10204704" y="1920240"/>
            <a:ext cx="1536192" cy="2926080"/>
          </a:xfrm>
          <a:prstGeom prst="roundRect">
            <a:avLst>
              <a:gd name="adj" fmla="val 7143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41" name="Shape 39"/>
          <p:cNvSpPr/>
          <p:nvPr/>
        </p:nvSpPr>
        <p:spPr>
          <a:xfrm>
            <a:off x="10387584" y="2103120"/>
            <a:ext cx="365760" cy="365760"/>
          </a:xfrm>
          <a:prstGeom prst="ellipse">
            <a:avLst/>
          </a:prstGeom>
          <a:solidFill>
            <a:srgbClr val="81BC26"/>
          </a:solidFill>
          <a:ln w="12700">
            <a:solidFill>
              <a:srgbClr val="81BC26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42" name="Text 40"/>
          <p:cNvSpPr txBox="1"/>
          <p:nvPr/>
        </p:nvSpPr>
        <p:spPr>
          <a:xfrm>
            <a:off x="10387584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80" dirty="0"/>
          </a:p>
        </p:txBody>
      </p:sp>
      <p:sp>
        <p:nvSpPr>
          <p:cNvPr id="43" name="Text 41"/>
          <p:cNvSpPr txBox="1"/>
          <p:nvPr/>
        </p:nvSpPr>
        <p:spPr>
          <a:xfrm>
            <a:off x="10387584" y="2606040"/>
            <a:ext cx="1170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10387584" y="3017520"/>
            <a:ext cx="11704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ciudadano ve el estado y luego sus cuotas en 'Mis créditos'.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548640" y="512064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1A3258"/>
          </a:solidFill>
          <a:ln w="12700">
            <a:solidFill>
              <a:srgbClr val="1A3258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46" name="Text 44"/>
          <p:cNvSpPr txBox="1"/>
          <p:nvPr/>
        </p:nvSpPr>
        <p:spPr>
          <a:xfrm>
            <a:off x="548640" y="51206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del ciudadano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926080" y="5120640"/>
            <a:ext cx="2194560" cy="292608"/>
          </a:xfrm>
          <a:prstGeom prst="roundRect">
            <a:avLst>
              <a:gd name="adj" fmla="val 50000"/>
            </a:avLst>
          </a:prstGeom>
          <a:solidFill>
            <a:srgbClr val="81BC26"/>
          </a:solidFill>
          <a:ln w="12700">
            <a:solidFill>
              <a:srgbClr val="81BC26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48" name="Text 46"/>
          <p:cNvSpPr txBox="1"/>
          <p:nvPr/>
        </p:nvSpPr>
        <p:spPr>
          <a:xfrm>
            <a:off x="2926080" y="51206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office de la Caja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5486400" y="507492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rector: simulado = contratado. El cronograma que ve el ciudadano es exactamente el que se origina.</a:t>
            </a:r>
            <a:endParaRPr lang="en-US" sz="1200" dirty="0"/>
          </a:p>
        </p:txBody>
      </p:sp>
      <p:sp>
        <p:nvSpPr>
          <p:cNvPr id="51" name="Text 48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Créditos online CCyPP · Portal del ciudadano y Back office</a:t>
            </a:r>
            <a:endParaRPr lang="en-US" sz="900" dirty="0"/>
          </a:p>
        </p:txBody>
      </p:sp>
      <p:sp>
        <p:nvSpPr>
          <p:cNvPr id="52" name="Text 49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está armado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aplicaciones web, un backend, una base. La identidad del ciudadano la pone la Provincia.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1A3258"/>
          </a:solidFill>
          <a:ln w="12700">
            <a:solidFill>
              <a:srgbClr val="1A3258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AR"/>
          </a:p>
        </p:txBody>
      </p:sp>
      <p:sp>
        <p:nvSpPr>
          <p:cNvPr id="5" name="Text 3"/>
          <p:cNvSpPr txBox="1"/>
          <p:nvPr/>
        </p:nvSpPr>
        <p:spPr>
          <a:xfrm>
            <a:off x="777240" y="17556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del ciudadano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2140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pública (React/Vite). Login con Mi Catamarca, simulador, wizard de 3 pasos, Mis solicitudes, Mis créditos, notificaciones. Responsive.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26280" y="164592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81BC26"/>
          </a:solidFill>
          <a:ln w="12700">
            <a:solidFill>
              <a:srgbClr val="81BC26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AR"/>
          </a:p>
        </p:txBody>
      </p:sp>
      <p:sp>
        <p:nvSpPr>
          <p:cNvPr id="8" name="Text 6"/>
          <p:cNvSpPr txBox="1"/>
          <p:nvPr/>
        </p:nvSpPr>
        <p:spPr>
          <a:xfrm>
            <a:off x="4663440" y="17556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office CCyPP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212140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interna (React/Vite). Configurar Créditos, Solicitudes, Inbox de aprobaciones, Originación, Liquidación por lote, Caja, Tablero, Seguridad.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412480" y="164592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294D76"/>
          </a:solidFill>
          <a:ln w="12700">
            <a:solidFill>
              <a:srgbClr val="294D76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AR"/>
          </a:p>
        </p:txBody>
      </p:sp>
      <p:sp>
        <p:nvSpPr>
          <p:cNvPr id="11" name="Text 9"/>
          <p:cNvSpPr txBox="1"/>
          <p:nvPr/>
        </p:nvSpPr>
        <p:spPr>
          <a:xfrm>
            <a:off x="8549640" y="17556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Catamarca (OIDC)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549640" y="2121408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provincial. Authorization Code, cliente confidencial; el portal nunca ve la contraseña. Sólo confirma que la persona existe.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194560" y="3017520"/>
            <a:ext cx="0" cy="548640"/>
          </a:xfrm>
          <a:prstGeom prst="line">
            <a:avLst/>
          </a:prstGeom>
          <a:noFill/>
          <a:ln w="19050">
            <a:solidFill>
              <a:srgbClr val="55617A"/>
            </a:solidFill>
            <a:prstDash val="solid"/>
            <a:tailEnd type="triangle"/>
          </a:ln>
        </p:spPr>
        <p:txBody>
          <a:bodyPr/>
          <a:lstStyle/>
          <a:p>
            <a:endParaRPr lang="en-AR"/>
          </a:p>
        </p:txBody>
      </p:sp>
      <p:sp>
        <p:nvSpPr>
          <p:cNvPr id="14" name="Shape 12"/>
          <p:cNvSpPr/>
          <p:nvPr/>
        </p:nvSpPr>
        <p:spPr>
          <a:xfrm>
            <a:off x="6080760" y="3017520"/>
            <a:ext cx="0" cy="548640"/>
          </a:xfrm>
          <a:prstGeom prst="line">
            <a:avLst/>
          </a:prstGeom>
          <a:noFill/>
          <a:ln w="19050">
            <a:solidFill>
              <a:srgbClr val="55617A"/>
            </a:solidFill>
            <a:prstDash val="solid"/>
            <a:tailEnd type="triangle"/>
          </a:ln>
        </p:spPr>
        <p:txBody>
          <a:bodyPr/>
          <a:lstStyle/>
          <a:p>
            <a:endParaRPr lang="en-AR"/>
          </a:p>
        </p:txBody>
      </p:sp>
      <p:sp>
        <p:nvSpPr>
          <p:cNvPr id="15" name="Shape 13"/>
          <p:cNvSpPr/>
          <p:nvPr/>
        </p:nvSpPr>
        <p:spPr>
          <a:xfrm>
            <a:off x="7635240" y="2331720"/>
            <a:ext cx="777240" cy="0"/>
          </a:xfrm>
          <a:prstGeom prst="line">
            <a:avLst/>
          </a:prstGeom>
          <a:noFill/>
          <a:ln w="19050">
            <a:solidFill>
              <a:srgbClr val="55617A"/>
            </a:solidFill>
            <a:prstDash val="dash"/>
            <a:headEnd type="triangle"/>
          </a:ln>
        </p:spPr>
        <p:txBody>
          <a:bodyPr/>
          <a:lstStyle/>
          <a:p>
            <a:endParaRPr lang="en-AR"/>
          </a:p>
        </p:txBody>
      </p:sp>
      <p:sp>
        <p:nvSpPr>
          <p:cNvPr id="16" name="Shape 14"/>
          <p:cNvSpPr/>
          <p:nvPr/>
        </p:nvSpPr>
        <p:spPr>
          <a:xfrm>
            <a:off x="640080" y="3566160"/>
            <a:ext cx="6995160" cy="1234440"/>
          </a:xfrm>
          <a:prstGeom prst="roundRect">
            <a:avLst>
              <a:gd name="adj" fmla="val 8889"/>
            </a:avLst>
          </a:prstGeom>
          <a:solidFill>
            <a:srgbClr val="17202E"/>
          </a:solidFill>
          <a:ln w="12700">
            <a:solidFill>
              <a:srgbClr val="17202E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AR"/>
          </a:p>
        </p:txBody>
      </p:sp>
      <p:sp>
        <p:nvSpPr>
          <p:cNvPr id="17" name="Text 15"/>
          <p:cNvSpPr txBox="1"/>
          <p:nvPr/>
        </p:nvSpPr>
        <p:spPr>
          <a:xfrm>
            <a:off x="777240" y="3675888"/>
            <a:ext cx="672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único · FastAPI (Python)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041648"/>
            <a:ext cx="6720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con dos realms de token (portal / interno). Motor único de cálculo (cronograma), elegibilidad, pre-aprobado, idempotencia en altas, numeración única con la base como árbitro, workflow N-ojos, auditoría de cambios.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0" y="4800600"/>
            <a:ext cx="0" cy="457200"/>
          </a:xfrm>
          <a:prstGeom prst="line">
            <a:avLst/>
          </a:prstGeom>
          <a:noFill/>
          <a:ln w="19050">
            <a:solidFill>
              <a:srgbClr val="55617A"/>
            </a:solidFill>
            <a:prstDash val="solid"/>
            <a:tailEnd type="triangle"/>
          </a:ln>
        </p:spPr>
        <p:txBody>
          <a:bodyPr/>
          <a:lstStyle/>
          <a:p>
            <a:endParaRPr lang="en-AR"/>
          </a:p>
        </p:txBody>
      </p:sp>
      <p:sp>
        <p:nvSpPr>
          <p:cNvPr id="20" name="Shape 18"/>
          <p:cNvSpPr/>
          <p:nvPr/>
        </p:nvSpPr>
        <p:spPr>
          <a:xfrm>
            <a:off x="640080" y="5257800"/>
            <a:ext cx="6995160" cy="868680"/>
          </a:xfrm>
          <a:prstGeom prst="roundRect">
            <a:avLst>
              <a:gd name="adj" fmla="val 12632"/>
            </a:avLst>
          </a:prstGeom>
          <a:solidFill>
            <a:srgbClr val="294D76"/>
          </a:solidFill>
          <a:ln w="12700">
            <a:solidFill>
              <a:srgbClr val="294D76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AR"/>
          </a:p>
        </p:txBody>
      </p:sp>
      <p:sp>
        <p:nvSpPr>
          <p:cNvPr id="21" name="Text 19"/>
          <p:cNvSpPr txBox="1"/>
          <p:nvPr/>
        </p:nvSpPr>
        <p:spPr>
          <a:xfrm>
            <a:off x="777240" y="5367528"/>
            <a:ext cx="6720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5733288"/>
            <a:ext cx="6720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sola base: productos (pp_*), solicitudes, contratos, actividades (event-sourcing), asientos contables, documentos adjuntos, auditoría.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412480" y="356616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motor: </a:t>
            </a: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portal simula sobre los productos publicados del product builder; la originación usa la misma función.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Segregación: </a:t>
            </a: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token del ciudadano tiene alcance 'portal' y sólo ve lo propio (solicitudes y créditos de su identidad).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Docker: </a:t>
            </a: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:5174, back office :5173, backend :8000 y base Postgres, todo en un compose.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dependencias pendientes: </a:t>
            </a: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SSO real sólo requiere cargar las credenciales y registrar el redirect en Mi Catamarca.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Créditos online CCyPP · Portal del ciudadano y Back office</a:t>
            </a:r>
            <a:endParaRPr lang="en-US" sz="900" dirty="0"/>
          </a:p>
        </p:txBody>
      </p:sp>
      <p:sp>
        <p:nvSpPr>
          <p:cNvPr id="26" name="Text 23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32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81B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del ciudadano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Simular, solicitar y seguir el crédito sin ir a la Caja.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421624" y="740664"/>
            <a:ext cx="2573018" cy="5376672"/>
          </a:xfrm>
          <a:prstGeom prst="roundRect">
            <a:avLst>
              <a:gd name="adj" fmla="val 12438"/>
            </a:avLst>
          </a:prstGeom>
          <a:solidFill>
            <a:srgbClr val="17202E"/>
          </a:solidFill>
          <a:ln w="12700">
            <a:solidFill>
              <a:srgbClr val="17202E"/>
            </a:solidFill>
            <a:prstDash val="solid"/>
          </a:ln>
          <a:effectLst>
            <a:outerShdw blurRad="1524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AR"/>
          </a:p>
        </p:txBody>
      </p:sp>
      <p:pic>
        <p:nvPicPr>
          <p:cNvPr id="6" name="Image 0" descr="img/m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822960"/>
            <a:ext cx="2408426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con Mi Catamarca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ciudadano no crea una cuenta nueva: usa la identidad digital de la Provincia.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325880" y="1737360"/>
            <a:ext cx="566928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DBE1EE"/>
            </a:solidFill>
            <a:prstDash val="solid"/>
          </a:ln>
          <a:effectLst>
            <a:outerShdw blurRad="1270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AR"/>
          </a:p>
        </p:txBody>
      </p:sp>
      <p:pic>
        <p:nvPicPr>
          <p:cNvPr id="5" name="Image 0" descr="img/p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1737360"/>
            <a:ext cx="5669280" cy="42062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138160" y="1554480"/>
            <a:ext cx="35204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botón. </a:t>
            </a:r>
            <a:r>
              <a:rPr lang="en-US" sz="12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'Ingresar con Mi Catamarca' redirige al login provincial y vuelve al portal con la sesión iniciada.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OIDC Authorization Code. </a:t>
            </a:r>
            <a:r>
              <a:rPr lang="en-US" sz="12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confidencial; el intercambio del código lo hace el backend. El portal nunca ve la contraseña.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Identidad, no haberes. </a:t>
            </a:r>
            <a:r>
              <a:rPr lang="en-US" sz="12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Catamarca confirma que la persona existe; los datos laborales los declara el ciudadano en el paso 1.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propia. </a:t>
            </a:r>
            <a:r>
              <a:rPr lang="en-US" sz="12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con alcance 'portal', separado del token interno del back office. Si vence, vuelve al login sin perder nada.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demo. </a:t>
            </a:r>
            <a:r>
              <a:rPr lang="en-US" sz="12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credenciales reales el backend simula el proveedor, lo que permite mostrar el circuito completo hoy.</a:t>
            </a:r>
            <a:endParaRPr lang="en-US" sz="125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Créditos online CCyPP · Portal del ciudadano y Back office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1 · Tus datos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Identidad, situación laboral, destino del crédito y documentación, todo en una pantalla.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11480" cy="411480"/>
          </a:xfrm>
          <a:prstGeom prst="ellipse">
            <a:avLst/>
          </a:prstGeom>
          <a:solidFill>
            <a:srgbClr val="81BC26"/>
          </a:solidFill>
          <a:ln w="12700">
            <a:solidFill>
              <a:srgbClr val="81BC26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4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4591251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DBE1EE"/>
            </a:solidFill>
            <a:prstDash val="solid"/>
          </a:ln>
          <a:effectLst>
            <a:outerShdw blurRad="1270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AR"/>
          </a:p>
        </p:txBody>
      </p:sp>
      <p:pic>
        <p:nvPicPr>
          <p:cNvPr id="7" name="Image 0" descr="img/p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4591251" cy="4846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949440" y="1554480"/>
            <a:ext cx="46634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Obligatorios: </a:t>
            </a:r>
            <a:r>
              <a:rPr lang="en-US" sz="12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apellido, nombre, DNI y situación laboral (empleado público, municipal, docente, jubilado, pensionado, contratado…).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calificar: </a:t>
            </a:r>
            <a:r>
              <a:rPr lang="en-US" sz="12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edad, antigüedad y sueldo neto alimentan la elegibilidad y la afectación de la cuota.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Destino: </a:t>
            </a:r>
            <a:r>
              <a:rPr lang="en-US" sz="12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vivienda, vehículo, consumo, educación, salud… (opcional) llega al asesor para la evaluación.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Documentación: </a:t>
            </a:r>
            <a:r>
              <a:rPr lang="en-US" sz="12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DNI frente/dorso y recibo de sueldo (JPG, PNG o PDF hasta 5 MB). Se suben junto con la solicitud.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Borrador: </a:t>
            </a:r>
            <a:r>
              <a:rPr lang="en-US" sz="12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guardar y retomar más tarde desde el mismo dispositivo, sin ensuciar la bandeja de la Caja.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Créditos online CCyPP · Portal del ciudadano y Back office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2 · Simulación en vivo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el producto, mueve monto y cuotas, y ve al instante cuánto paga y si califica.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11480" cy="411480"/>
          </a:xfrm>
          <a:prstGeom prst="ellipse">
            <a:avLst/>
          </a:prstGeom>
          <a:solidFill>
            <a:srgbClr val="81BC26"/>
          </a:solidFill>
          <a:ln w="12700">
            <a:solidFill>
              <a:srgbClr val="81BC26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4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19132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DBE1EE"/>
            </a:solidFill>
            <a:prstDash val="solid"/>
          </a:ln>
          <a:effectLst>
            <a:outerShdw blurRad="1270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AR"/>
          </a:p>
        </p:txBody>
      </p:sp>
      <p:pic>
        <p:nvPicPr>
          <p:cNvPr id="7" name="Image 0" descr="img/p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5319132" cy="4846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949440" y="1554480"/>
            <a:ext cx="46634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publicados. </a:t>
            </a:r>
            <a:r>
              <a:rPr lang="en-US" sz="12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Sólo las líneas que la Caja publicó en Configurar Créditos y habilitó para el canal web.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Pre-aprobado. </a:t>
            </a:r>
            <a:r>
              <a:rPr lang="en-US" sz="12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sueldo declarado, el portal calcula hasta cuánto puede pedir con una afectación máxima del 30 %.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Sliders con recálculo. </a:t>
            </a:r>
            <a:r>
              <a:rPr lang="en-US" sz="12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 y cuotas dentro del rango del producto; la cuota se recalcula sin apretar 'Simular'.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claro. </a:t>
            </a:r>
            <a:r>
              <a:rPr lang="en-US" sz="12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Cuota promedio, total a pagar, intereses, CFT, TNA/TEA y el aviso '✓ Con tus datos calificás'.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motor. </a:t>
            </a:r>
            <a:r>
              <a:rPr lang="en-US" sz="12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simulación corre sobre el motor del back office: lo que ve acá es lo que se contrata.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Créditos online CCyPP · Portal del ciudadano y Back office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Transparencia: el detalle de cada cuota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Capital, interés, cargos e impuestos, cuota por cuota, antes de enviar.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363794" y="1463040"/>
            <a:ext cx="5319132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DBE1EE"/>
            </a:solidFill>
            <a:prstDash val="solid"/>
          </a:ln>
          <a:effectLst>
            <a:outerShdw blurRad="1270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AR"/>
          </a:p>
        </p:txBody>
      </p:sp>
      <p:pic>
        <p:nvPicPr>
          <p:cNvPr id="5" name="Image 0" descr="img/p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3794" y="1463040"/>
            <a:ext cx="5319132" cy="4846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863840" y="1554480"/>
            <a:ext cx="3749040" cy="2103120"/>
          </a:xfrm>
          <a:prstGeom prst="roundRect">
            <a:avLst>
              <a:gd name="adj" fmla="val 521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7" name="Text 4"/>
          <p:cNvSpPr txBox="1"/>
          <p:nvPr/>
        </p:nvSpPr>
        <p:spPr>
          <a:xfrm>
            <a:off x="8092440" y="171907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Simulado = contratado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092440" y="2176272"/>
            <a:ext cx="32918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cronograma que se muestra al ciudadano lo genera la misma función que usa la Caja para originar y para el servicing. No hay 'versión web' del cálculo.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863840" y="3840480"/>
            <a:ext cx="3749040" cy="2286000"/>
          </a:xfrm>
          <a:prstGeom prst="roundRect">
            <a:avLst>
              <a:gd name="adj" fmla="val 48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0" name="Text 7"/>
          <p:cNvSpPr txBox="1"/>
          <p:nvPr/>
        </p:nvSpPr>
        <p:spPr>
          <a:xfrm>
            <a:off x="8092440" y="400507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incluye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092440" y="4462272"/>
            <a:ext cx="3291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amortización (francés, alemán, directo, cuota fija), TNA/TEA/CFT, cargos e impuestos configurados por producto, fechas de vencimiento con calendario de feriados.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Créditos online CCyPP · Portal del ciudadano y Back office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3 · Confirmación y envío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Resumen, CBU de acreditación y consentimientos. Un clic y la solicitud queda en la Caja.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11480" cy="411480"/>
          </a:xfrm>
          <a:prstGeom prst="ellipse">
            <a:avLst/>
          </a:prstGeom>
          <a:solidFill>
            <a:srgbClr val="81BC26"/>
          </a:solidFill>
          <a:ln w="12700">
            <a:solidFill>
              <a:srgbClr val="81BC26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5" name="Text 3"/>
          <p:cNvSpPr txBox="1"/>
          <p:nvPr/>
        </p:nvSpPr>
        <p:spPr>
          <a:xfrm>
            <a:off x="548640" y="1508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4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4857114" cy="4846320"/>
          </a:xfrm>
          <a:prstGeom prst="rect">
            <a:avLst/>
          </a:prstGeom>
          <a:solidFill>
            <a:srgbClr val="FFFFFF"/>
          </a:solidFill>
          <a:ln w="9525">
            <a:solidFill>
              <a:srgbClr val="DBE1EE"/>
            </a:solidFill>
            <a:prstDash val="solid"/>
          </a:ln>
          <a:effectLst>
            <a:outerShdw blurRad="1270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AR"/>
          </a:p>
        </p:txBody>
      </p:sp>
      <p:pic>
        <p:nvPicPr>
          <p:cNvPr id="7" name="Image 0" descr="img/p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4857114" cy="4846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949440" y="1554480"/>
            <a:ext cx="46634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completo. </a:t>
            </a:r>
            <a:r>
              <a:rPr lang="en-US" sz="12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Producto, monto, cuotas, cuota estimada, total, tasas, solicitante, DNI, situación, destino, sueldo y afectación.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CBU de 22 dígitos. </a:t>
            </a:r>
            <a:r>
              <a:rPr lang="en-US" sz="12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 en el navegador y en el backend; es donde se acredita el desembolso.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Consentimientos obligatorios. </a:t>
            </a:r>
            <a:r>
              <a:rPr lang="en-US" sz="12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Términos y condiciones + tratamiento de datos personales, persistidos con la solicitud.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Envío idempotente. </a:t>
            </a:r>
            <a:r>
              <a:rPr lang="en-US" sz="12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envío lleva una clave única: un doble clic o un corte de red no generan dos solicitudes.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Número único. </a:t>
            </a:r>
            <a:r>
              <a:rPr lang="en-US" sz="12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SOL-AAAA-NNNNN asignado por 'primer libre' con la base como árbitro, sin locks aplicativos.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Créditos online CCyPP · Portal del ciudadano y Back office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solicitudes: seguimiento del expediente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ciudadano sabe en qué etapa está su trámite sin llamar ni ir a la Caja.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832145" y="1463040"/>
            <a:ext cx="3010829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BE1EE"/>
            </a:solidFill>
            <a:prstDash val="solid"/>
          </a:ln>
          <a:effectLst>
            <a:outerShdw blurRad="1270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AR"/>
          </a:p>
        </p:txBody>
      </p:sp>
      <p:pic>
        <p:nvPicPr>
          <p:cNvPr id="5" name="Image 0" descr="img/p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2145" y="1463040"/>
            <a:ext cx="3010829" cy="2743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832145" y="3657600"/>
            <a:ext cx="3010829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BE1EE"/>
            </a:solidFill>
            <a:prstDash val="solid"/>
          </a:ln>
          <a:effectLst>
            <a:outerShdw blurRad="1270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AR"/>
          </a:p>
        </p:txBody>
      </p:sp>
      <p:pic>
        <p:nvPicPr>
          <p:cNvPr id="7" name="Image 1" descr="img/p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2145" y="3657600"/>
            <a:ext cx="3010829" cy="27432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92240" y="1554480"/>
            <a:ext cx="51206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 propio. </a:t>
            </a:r>
            <a:r>
              <a:rPr lang="en-US" sz="12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Sólo las solicitudes de su identidad: producto, monto, cuotas, cuota estimada, fecha y estado con pills.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Stepper de seguimiento. </a:t>
            </a:r>
            <a:r>
              <a:rPr lang="en-US" sz="12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Enviada → En evaluación → Aprobada → Otorgada (o Rechazada, con el motivo).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 con cronograma. </a:t>
            </a:r>
            <a:r>
              <a:rPr lang="en-US" sz="12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mismos KPIs y cuotas que vio al simular, para consultarlos cuando quiera.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derivado del core. </a:t>
            </a:r>
            <a:r>
              <a:rPr lang="en-US" sz="12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una copia 'web' del estado: el portal lee la solicitud real del back office.</a:t>
            </a:r>
            <a:endParaRPr lang="en-US" sz="1250" dirty="0"/>
          </a:p>
        </p:txBody>
      </p:sp>
      <p:sp>
        <p:nvSpPr>
          <p:cNvPr id="10" name="Text 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Créditos online CCyPP · Portal del ciudadano y Back office</a:t>
            </a:r>
            <a:endParaRPr lang="en-US" sz="900" dirty="0"/>
          </a:p>
        </p:txBody>
      </p:sp>
      <p:sp>
        <p:nvSpPr>
          <p:cNvPr id="11" name="Text 6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créditos y notificaciones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vez otorgado, el crédito vive en el portal: saldo, cuotas pagadas y próxima cuota.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057958" y="1463040"/>
            <a:ext cx="2559205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BE1EE"/>
            </a:solidFill>
            <a:prstDash val="solid"/>
          </a:ln>
          <a:effectLst>
            <a:outerShdw blurRad="1270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AR"/>
          </a:p>
        </p:txBody>
      </p:sp>
      <p:pic>
        <p:nvPicPr>
          <p:cNvPr id="5" name="Image 0" descr="img/p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958" y="1463040"/>
            <a:ext cx="2559205" cy="23317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032867" y="3931920"/>
            <a:ext cx="2609385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DBE1EE"/>
            </a:solidFill>
            <a:prstDash val="solid"/>
          </a:ln>
          <a:effectLst>
            <a:outerShdw blurRad="1270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AR"/>
          </a:p>
        </p:txBody>
      </p:sp>
      <p:pic>
        <p:nvPicPr>
          <p:cNvPr id="7" name="Image 1" descr="img/p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2867" y="3931920"/>
            <a:ext cx="2609385" cy="237744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727238" y="1463040"/>
            <a:ext cx="2559205" cy="2331720"/>
          </a:xfrm>
          <a:prstGeom prst="rect">
            <a:avLst/>
          </a:prstGeom>
          <a:solidFill>
            <a:srgbClr val="FFFFFF"/>
          </a:solidFill>
          <a:ln w="9525">
            <a:solidFill>
              <a:srgbClr val="DBE1EE"/>
            </a:solidFill>
            <a:prstDash val="solid"/>
          </a:ln>
          <a:effectLst>
            <a:outerShdw blurRad="1270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AR"/>
          </a:p>
        </p:txBody>
      </p:sp>
      <p:pic>
        <p:nvPicPr>
          <p:cNvPr id="9" name="Image 2" descr="img/p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7238" y="1463040"/>
            <a:ext cx="2559205" cy="23317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6355080" y="3977640"/>
            <a:ext cx="5303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Tarjeta por crédito: </a:t>
            </a:r>
            <a:r>
              <a:rPr lang="en-US" sz="120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producto, contrato, estado (activo, en proceso, en mora), barra de progreso, cuotas pagadas, saldo y próxima cuota.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Detalle: </a:t>
            </a:r>
            <a:r>
              <a:rPr lang="en-US" sz="120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cuota por cuota con vencimiento, importe, pagado y estado (pagada, pendiente, vencida).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Notificaciones: </a:t>
            </a:r>
            <a:r>
              <a:rPr lang="en-US" sz="120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campana avisa cuando un crédito fue otorgado y otros hitos del expediente.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Créditos online CCyPP · Portal del ciudadano y Back office</a:t>
            </a:r>
            <a:endParaRPr lang="en-US" sz="900" dirty="0"/>
          </a:p>
        </p:txBody>
      </p:sp>
      <p:sp>
        <p:nvSpPr>
          <p:cNvPr id="13" name="Text 7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Pensado para el celular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portal es responsive y respeta el modo oscuro del dispositivo. Sin scroll horizontal a 375 px.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03504" y="1517904"/>
            <a:ext cx="2108234" cy="4370832"/>
          </a:xfrm>
          <a:prstGeom prst="roundRect">
            <a:avLst>
              <a:gd name="adj" fmla="val 15180"/>
            </a:avLst>
          </a:prstGeom>
          <a:solidFill>
            <a:srgbClr val="17202E"/>
          </a:solidFill>
          <a:ln w="12700">
            <a:solidFill>
              <a:srgbClr val="17202E"/>
            </a:solidFill>
            <a:prstDash val="solid"/>
          </a:ln>
          <a:effectLst>
            <a:outerShdw blurRad="1524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AR"/>
          </a:p>
        </p:txBody>
      </p:sp>
      <p:pic>
        <p:nvPicPr>
          <p:cNvPr id="5" name="Image 0" descr="img/m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00200"/>
            <a:ext cx="1943642" cy="42062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6035040"/>
            <a:ext cx="230940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931194" y="1517904"/>
            <a:ext cx="2108234" cy="4370832"/>
          </a:xfrm>
          <a:prstGeom prst="roundRect">
            <a:avLst>
              <a:gd name="adj" fmla="val 15180"/>
            </a:avLst>
          </a:prstGeom>
          <a:solidFill>
            <a:srgbClr val="17202E"/>
          </a:solidFill>
          <a:ln w="12700">
            <a:solidFill>
              <a:srgbClr val="17202E"/>
            </a:solidFill>
            <a:prstDash val="solid"/>
          </a:ln>
          <a:effectLst>
            <a:outerShdw blurRad="1524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AR"/>
          </a:p>
        </p:txBody>
      </p:sp>
      <p:pic>
        <p:nvPicPr>
          <p:cNvPr id="8" name="Image 1" descr="img/m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3490" y="1600200"/>
            <a:ext cx="1943642" cy="42062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830610" y="6035040"/>
            <a:ext cx="230940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 datos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258883" y="1517904"/>
            <a:ext cx="2108234" cy="4370832"/>
          </a:xfrm>
          <a:prstGeom prst="roundRect">
            <a:avLst>
              <a:gd name="adj" fmla="val 15180"/>
            </a:avLst>
          </a:prstGeom>
          <a:solidFill>
            <a:srgbClr val="17202E"/>
          </a:solidFill>
          <a:ln w="12700">
            <a:solidFill>
              <a:srgbClr val="17202E"/>
            </a:solidFill>
            <a:prstDash val="solid"/>
          </a:ln>
          <a:effectLst>
            <a:outerShdw blurRad="1524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AR"/>
          </a:p>
        </p:txBody>
      </p:sp>
      <p:pic>
        <p:nvPicPr>
          <p:cNvPr id="11" name="Image 2" descr="img/m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1179" y="1600200"/>
            <a:ext cx="1943642" cy="42062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158299" y="6035040"/>
            <a:ext cx="230940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Simulación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7586573" y="1517904"/>
            <a:ext cx="2108234" cy="4370832"/>
          </a:xfrm>
          <a:prstGeom prst="roundRect">
            <a:avLst>
              <a:gd name="adj" fmla="val 15180"/>
            </a:avLst>
          </a:prstGeom>
          <a:solidFill>
            <a:srgbClr val="17202E"/>
          </a:solidFill>
          <a:ln w="12700">
            <a:solidFill>
              <a:srgbClr val="17202E"/>
            </a:solidFill>
            <a:prstDash val="solid"/>
          </a:ln>
          <a:effectLst>
            <a:outerShdw blurRad="1524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AR"/>
          </a:p>
        </p:txBody>
      </p:sp>
      <p:pic>
        <p:nvPicPr>
          <p:cNvPr id="14" name="Image 3" descr="img/m0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8869" y="1600200"/>
            <a:ext cx="1943642" cy="420624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7485989" y="6035040"/>
            <a:ext cx="230940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Confirmación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9914263" y="1517904"/>
            <a:ext cx="2108234" cy="4370832"/>
          </a:xfrm>
          <a:prstGeom prst="roundRect">
            <a:avLst>
              <a:gd name="adj" fmla="val 15180"/>
            </a:avLst>
          </a:prstGeom>
          <a:solidFill>
            <a:srgbClr val="17202E"/>
          </a:solidFill>
          <a:ln w="12700">
            <a:solidFill>
              <a:srgbClr val="17202E"/>
            </a:solidFill>
            <a:prstDash val="solid"/>
          </a:ln>
          <a:effectLst>
            <a:outerShdw blurRad="1524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AR"/>
          </a:p>
        </p:txBody>
      </p:sp>
      <p:pic>
        <p:nvPicPr>
          <p:cNvPr id="17" name="Image 4" descr="img/m0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96559" y="1600200"/>
            <a:ext cx="1943642" cy="4206240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9813679" y="6035040"/>
            <a:ext cx="230940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Seguimiento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Créditos online CCyPP · Portal del ciudadano y Back office</a:t>
            </a:r>
            <a:endParaRPr lang="en-US" sz="900" dirty="0"/>
          </a:p>
        </p:txBody>
      </p:sp>
      <p:sp>
        <p:nvSpPr>
          <p:cNvPr id="21" name="Text 13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32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81B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office de la Caja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pasa con la solicitud una vez que entra al sistema.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0" y="2000250"/>
            <a:ext cx="4572000" cy="2857500"/>
          </a:xfrm>
          <a:prstGeom prst="rect">
            <a:avLst/>
          </a:prstGeom>
          <a:solidFill>
            <a:srgbClr val="FFFFFF"/>
          </a:solidFill>
          <a:ln w="9525">
            <a:solidFill>
              <a:srgbClr val="DBE1EE"/>
            </a:solidFill>
            <a:prstDash val="solid"/>
          </a:ln>
          <a:effectLst>
            <a:outerShdw blurRad="1270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AR"/>
          </a:p>
        </p:txBody>
      </p:sp>
      <p:pic>
        <p:nvPicPr>
          <p:cNvPr id="6" name="Image 0" descr="img/b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000250"/>
            <a:ext cx="4572000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Solicitudes de crédito: la bandeja del asesor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solicitud web llega 'En evaluación', marcada con origen portal, con su evaluación automática y sus adjuntos.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7498080" cy="468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BE1EE"/>
            </a:solidFill>
            <a:prstDash val="solid"/>
          </a:ln>
          <a:effectLst>
            <a:outerShdw blurRad="1270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AR"/>
          </a:p>
        </p:txBody>
      </p:sp>
      <p:pic>
        <p:nvPicPr>
          <p:cNvPr id="5" name="Image 0" descr="img/b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7498080" cy="46863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321040" y="1554480"/>
            <a:ext cx="333756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por estado: </a:t>
            </a: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borrador, en evaluación, aprobada, rechazada, originada, anulada.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automática: </a:t>
            </a: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segmento, canal, edad, antigüedad y afectación contra las reglas del producto; el resultado y los motivos quedan a la vista.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Documentación: </a:t>
            </a: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DNI y el recibo que subió el ciudadano se abren desde acá.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para liquidar: </a:t>
            </a: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nombre + DNI + CBU (obligatorios) y CUIL/sueldo (deseables). Si falta algo, no se puede originar.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Acciones: </a:t>
            </a: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Aprobar, Rechazar (con motivo), Anular, Dar de alta en maestro y Originar contrato.</a:t>
            </a:r>
            <a:endParaRPr lang="en-US" sz="115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Créditos online CCyPP · Portal del ciudadano y Back office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Aprobación con cuatro ojos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Nadie aprueba lo que emitió. El circuito es configurable por objeto y por niveles.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30936" y="1463040"/>
            <a:ext cx="5413248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BE1EE"/>
            </a:solidFill>
            <a:prstDash val="solid"/>
          </a:ln>
          <a:effectLst>
            <a:outerShdw blurRad="1270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AR"/>
          </a:p>
        </p:txBody>
      </p:sp>
      <p:pic>
        <p:nvPicPr>
          <p:cNvPr id="5" name="Image 0" descr="img/b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1463040"/>
            <a:ext cx="5413248" cy="3383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09360" y="1463040"/>
            <a:ext cx="5349240" cy="3343275"/>
          </a:xfrm>
          <a:prstGeom prst="rect">
            <a:avLst/>
          </a:prstGeom>
          <a:solidFill>
            <a:srgbClr val="FFFFFF"/>
          </a:solidFill>
          <a:ln w="9525">
            <a:solidFill>
              <a:srgbClr val="DBE1EE"/>
            </a:solidFill>
            <a:prstDash val="solid"/>
          </a:ln>
          <a:effectLst>
            <a:outerShdw blurRad="1270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AR"/>
          </a:p>
        </p:txBody>
      </p:sp>
      <p:pic>
        <p:nvPicPr>
          <p:cNvPr id="7" name="Image 1" descr="img/b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463040"/>
            <a:ext cx="5349240" cy="334327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498348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9" name="Text 5"/>
          <p:cNvSpPr txBox="1"/>
          <p:nvPr/>
        </p:nvSpPr>
        <p:spPr>
          <a:xfrm>
            <a:off x="777240" y="514807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 de aprobaciones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560527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Tareas que esperan una firma: solicitudes, líneas de crédito, desembolsos, refinanciaciones. Quien pidió no ve su propia tarea.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297680" y="498348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2" name="Text 8"/>
          <p:cNvSpPr txBox="1"/>
          <p:nvPr/>
        </p:nvSpPr>
        <p:spPr>
          <a:xfrm>
            <a:off x="4526280" y="514807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configurable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560527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→ Workflow: disparador, niveles en serie (rol que aprueba en cada uno) y fin. Se activa o desactiva por objeto.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46720" y="498348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5" name="Text 11"/>
          <p:cNvSpPr txBox="1"/>
          <p:nvPr/>
        </p:nvSpPr>
        <p:spPr>
          <a:xfrm>
            <a:off x="8275320" y="514807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8275320" y="560527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aprobación o rechazo queda con usuario, fecha y resultado en la auditoría de cambios.</a:t>
            </a:r>
            <a:endParaRPr lang="en-US" sz="115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Créditos online CCyPP · Portal del ciudadano y Back office</a:t>
            </a:r>
            <a:endParaRPr lang="en-US" sz="900" dirty="0"/>
          </a:p>
        </p:txBody>
      </p:sp>
      <p:sp>
        <p:nvSpPr>
          <p:cNvPr id="19" name="Text 14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Originación, liquidación por lote y servicing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Aprobar no desembolsa: el contrato queda A LIQUIDAR y se paga en el lote del día.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30936" y="1463040"/>
            <a:ext cx="5413248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BE1EE"/>
            </a:solidFill>
            <a:prstDash val="solid"/>
          </a:ln>
          <a:effectLst>
            <a:outerShdw blurRad="1270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AR"/>
          </a:p>
        </p:txBody>
      </p:sp>
      <p:pic>
        <p:nvPicPr>
          <p:cNvPr id="5" name="Image 0" descr="img/b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1463040"/>
            <a:ext cx="5413248" cy="3383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09360" y="1463040"/>
            <a:ext cx="5349240" cy="3343275"/>
          </a:xfrm>
          <a:prstGeom prst="rect">
            <a:avLst/>
          </a:prstGeom>
          <a:solidFill>
            <a:srgbClr val="FFFFFF"/>
          </a:solidFill>
          <a:ln w="9525">
            <a:solidFill>
              <a:srgbClr val="DBE1EE"/>
            </a:solidFill>
            <a:prstDash val="solid"/>
          </a:ln>
          <a:effectLst>
            <a:outerShdw blurRad="1270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AR"/>
          </a:p>
        </p:txBody>
      </p:sp>
      <p:pic>
        <p:nvPicPr>
          <p:cNvPr id="7" name="Image 1" descr="img/b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463040"/>
            <a:ext cx="5349240" cy="334327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5029200"/>
            <a:ext cx="1691640" cy="548640"/>
          </a:xfrm>
          <a:prstGeom prst="roundRect">
            <a:avLst>
              <a:gd name="adj" fmla="val 1666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9" name="Text 5"/>
          <p:cNvSpPr txBox="1"/>
          <p:nvPr/>
        </p:nvSpPr>
        <p:spPr>
          <a:xfrm>
            <a:off x="548640" y="50292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Aprobada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2221992" y="5102352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2423160" y="5029200"/>
            <a:ext cx="1691640" cy="548640"/>
          </a:xfrm>
          <a:prstGeom prst="roundRect">
            <a:avLst>
              <a:gd name="adj" fmla="val 1666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2" name="Text 8"/>
          <p:cNvSpPr txBox="1"/>
          <p:nvPr/>
        </p:nvSpPr>
        <p:spPr>
          <a:xfrm>
            <a:off x="2423160" y="50292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Originar contrato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4096512" y="5102352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4297680" y="5029200"/>
            <a:ext cx="1691640" cy="548640"/>
          </a:xfrm>
          <a:prstGeom prst="roundRect">
            <a:avLst>
              <a:gd name="adj" fmla="val 1666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5" name="Text 11"/>
          <p:cNvSpPr txBox="1"/>
          <p:nvPr/>
        </p:nvSpPr>
        <p:spPr>
          <a:xfrm>
            <a:off x="4297680" y="50292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LIQUIDAR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5971032" y="5102352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7" name="Shape 13"/>
          <p:cNvSpPr/>
          <p:nvPr/>
        </p:nvSpPr>
        <p:spPr>
          <a:xfrm>
            <a:off x="6172200" y="5029200"/>
            <a:ext cx="1691640" cy="548640"/>
          </a:xfrm>
          <a:prstGeom prst="roundRect">
            <a:avLst>
              <a:gd name="adj" fmla="val 1666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8" name="Text 14"/>
          <p:cNvSpPr txBox="1"/>
          <p:nvPr/>
        </p:nvSpPr>
        <p:spPr>
          <a:xfrm>
            <a:off x="6172200" y="50292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Lote del día</a:t>
            </a:r>
            <a:endParaRPr lang="en-US" sz="1150" dirty="0"/>
          </a:p>
        </p:txBody>
      </p:sp>
      <p:sp>
        <p:nvSpPr>
          <p:cNvPr id="19" name="Text 15"/>
          <p:cNvSpPr txBox="1"/>
          <p:nvPr/>
        </p:nvSpPr>
        <p:spPr>
          <a:xfrm>
            <a:off x="7845552" y="5102352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8046720" y="5029200"/>
            <a:ext cx="1691640" cy="548640"/>
          </a:xfrm>
          <a:prstGeom prst="roundRect">
            <a:avLst>
              <a:gd name="adj" fmla="val 16667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21" name="Text 17"/>
          <p:cNvSpPr txBox="1"/>
          <p:nvPr/>
        </p:nvSpPr>
        <p:spPr>
          <a:xfrm>
            <a:off x="8046720" y="50292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Desembolso + asiento</a:t>
            </a:r>
            <a:endParaRPr lang="en-US" sz="1150" dirty="0"/>
          </a:p>
        </p:txBody>
      </p:sp>
      <p:sp>
        <p:nvSpPr>
          <p:cNvPr id="22" name="Text 18"/>
          <p:cNvSpPr txBox="1"/>
          <p:nvPr/>
        </p:nvSpPr>
        <p:spPr>
          <a:xfrm>
            <a:off x="9720072" y="5102352"/>
            <a:ext cx="228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9921240" y="5029200"/>
            <a:ext cx="1691640" cy="548640"/>
          </a:xfrm>
          <a:prstGeom prst="roundRect">
            <a:avLst>
              <a:gd name="adj" fmla="val 16667"/>
            </a:avLst>
          </a:prstGeom>
          <a:solidFill>
            <a:srgbClr val="81BC26"/>
          </a:solidFill>
          <a:ln w="12700">
            <a:solidFill>
              <a:srgbClr val="81BC26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24" name="Text 20"/>
          <p:cNvSpPr txBox="1"/>
          <p:nvPr/>
        </p:nvSpPr>
        <p:spPr>
          <a:xfrm>
            <a:off x="9921240" y="50292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 en el portal</a:t>
            </a:r>
            <a:endParaRPr lang="en-US" sz="1150" dirty="0"/>
          </a:p>
        </p:txBody>
      </p:sp>
      <p:sp>
        <p:nvSpPr>
          <p:cNvPr id="25" name="Text 21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Liquidación por lote agrupa los contratos por día de originación; liquidar el lote desembolsa todos (respetando el workflow de desembolso). Situación del cliente muestra los contratos, saldos, próximas cuotas y mora, reconstruidos desde las actividades (event-sourcing).</a:t>
            </a:r>
            <a:endParaRPr lang="en-US" sz="1150" dirty="0"/>
          </a:p>
        </p:txBody>
      </p:sp>
      <p:sp>
        <p:nvSpPr>
          <p:cNvPr id="27" name="Text 22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Créditos online CCyPP · Portal del ciudadano y Back office</a:t>
            </a:r>
            <a:endParaRPr lang="en-US" sz="900" dirty="0"/>
          </a:p>
        </p:txBody>
      </p:sp>
      <p:sp>
        <p:nvSpPr>
          <p:cNvPr id="28" name="Text 23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Créditos: el product builder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líneas que el ciudadano ve en el portal nacen acá: componentes, versiones, revisión y publicación.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577840" cy="3486150"/>
          </a:xfrm>
          <a:prstGeom prst="rect">
            <a:avLst/>
          </a:prstGeom>
          <a:solidFill>
            <a:srgbClr val="FFFFFF"/>
          </a:solidFill>
          <a:ln w="9525">
            <a:solidFill>
              <a:srgbClr val="DBE1EE"/>
            </a:solidFill>
            <a:prstDash val="solid"/>
          </a:ln>
          <a:effectLst>
            <a:outerShdw blurRad="1270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AR"/>
          </a:p>
        </p:txBody>
      </p:sp>
      <p:pic>
        <p:nvPicPr>
          <p:cNvPr id="5" name="Image 0" descr="img/b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5577840" cy="34861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09360" y="1463040"/>
            <a:ext cx="5349240" cy="3343275"/>
          </a:xfrm>
          <a:prstGeom prst="rect">
            <a:avLst/>
          </a:prstGeom>
          <a:solidFill>
            <a:srgbClr val="FFFFFF"/>
          </a:solidFill>
          <a:ln w="9525">
            <a:solidFill>
              <a:srgbClr val="DBE1EE"/>
            </a:solidFill>
            <a:prstDash val="solid"/>
          </a:ln>
          <a:effectLst>
            <a:outerShdw blurRad="1270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AR"/>
          </a:p>
        </p:txBody>
      </p:sp>
      <p:pic>
        <p:nvPicPr>
          <p:cNvPr id="7" name="Image 1" descr="img/b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463040"/>
            <a:ext cx="5349240" cy="334327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521208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versionado: </a:t>
            </a: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borrador → en revisión → publicado; el contrato congela la versión con la que se originó.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Componentes: </a:t>
            </a: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 y plazo, intereses, cronograma, reglas de pago, cargos, impuestos, mora, cancelación anticipada, liquidación, contabilidad y disponibilidad (segmentos y canales).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web: </a:t>
            </a: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sólo los productos con canal WEB habilitado se ofrecen en el portal; el resto queda para sucursal o convenio.</a:t>
            </a:r>
            <a:endParaRPr lang="en-US" sz="1150" dirty="0"/>
          </a:p>
        </p:txBody>
      </p:sp>
      <p:sp>
        <p:nvSpPr>
          <p:cNvPr id="10" name="Text 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Créditos online CCyPP · Portal del ciudadano y Back office</a:t>
            </a:r>
            <a:endParaRPr lang="en-US" sz="900" dirty="0"/>
          </a:p>
        </p:txBody>
      </p:sp>
      <p:sp>
        <p:nvSpPr>
          <p:cNvPr id="11" name="Text 6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de cartera y Caja de créditos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se otorgó, cómo se cobra y cómo viene la cartera.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30936" y="1463040"/>
            <a:ext cx="5413248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BE1EE"/>
            </a:solidFill>
            <a:prstDash val="solid"/>
          </a:ln>
          <a:effectLst>
            <a:outerShdw blurRad="1270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AR"/>
          </a:p>
        </p:txBody>
      </p:sp>
      <p:pic>
        <p:nvPicPr>
          <p:cNvPr id="5" name="Image 0" descr="img/b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1463040"/>
            <a:ext cx="5413248" cy="3383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09360" y="1463040"/>
            <a:ext cx="5349240" cy="3343275"/>
          </a:xfrm>
          <a:prstGeom prst="rect">
            <a:avLst/>
          </a:prstGeom>
          <a:solidFill>
            <a:srgbClr val="FFFFFF"/>
          </a:solidFill>
          <a:ln w="9525">
            <a:solidFill>
              <a:srgbClr val="DBE1EE"/>
            </a:solidFill>
            <a:prstDash val="solid"/>
          </a:ln>
          <a:effectLst>
            <a:outerShdw blurRad="1270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AR"/>
          </a:p>
        </p:txBody>
      </p:sp>
      <p:pic>
        <p:nvPicPr>
          <p:cNvPr id="7" name="Image 1" descr="img/b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463040"/>
            <a:ext cx="5349240" cy="334327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498348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9" name="Text 5"/>
          <p:cNvSpPr txBox="1"/>
          <p:nvPr/>
        </p:nvSpPr>
        <p:spPr>
          <a:xfrm>
            <a:off x="777240" y="5148072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de cartera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5605272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Contratos, saldo vigente, capital colocado, cobrado, cuotas pagadas y mora; análisis por estado, sistema, línea o rango de saldo; exportable a Excel.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217920" y="4983480"/>
            <a:ext cx="5440680" cy="137160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2" name="Text 8"/>
          <p:cNvSpPr txBox="1"/>
          <p:nvPr/>
        </p:nvSpPr>
        <p:spPr>
          <a:xfrm>
            <a:off x="6446520" y="5148072"/>
            <a:ext cx="4983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 de créditos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6446520" y="5605272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Cobranza de cuotas (total, parcial o prepago) por medio de pago; cada cobro registra la actividad y su asiento en el libro diario.</a:t>
            </a:r>
            <a:endParaRPr lang="en-US" sz="115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Créditos online CCyPP · Portal del ciudadano y Back office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y trazabilidad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puede hacer qué, y quién hizo qué.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30936" y="1463040"/>
            <a:ext cx="5413248" cy="3383280"/>
          </a:xfrm>
          <a:prstGeom prst="rect">
            <a:avLst/>
          </a:prstGeom>
          <a:solidFill>
            <a:srgbClr val="FFFFFF"/>
          </a:solidFill>
          <a:ln w="9525">
            <a:solidFill>
              <a:srgbClr val="DBE1EE"/>
            </a:solidFill>
            <a:prstDash val="solid"/>
          </a:ln>
          <a:effectLst>
            <a:outerShdw blurRad="1270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AR"/>
          </a:p>
        </p:txBody>
      </p:sp>
      <p:pic>
        <p:nvPicPr>
          <p:cNvPr id="5" name="Image 0" descr="img/b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1463040"/>
            <a:ext cx="5413248" cy="33832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09360" y="1463040"/>
            <a:ext cx="5349240" cy="3343275"/>
          </a:xfrm>
          <a:prstGeom prst="rect">
            <a:avLst/>
          </a:prstGeom>
          <a:solidFill>
            <a:srgbClr val="FFFFFF"/>
          </a:solidFill>
          <a:ln w="9525">
            <a:solidFill>
              <a:srgbClr val="DBE1EE"/>
            </a:solidFill>
            <a:prstDash val="solid"/>
          </a:ln>
          <a:effectLst>
            <a:outerShdw blurRad="1270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AR"/>
          </a:p>
        </p:txBody>
      </p:sp>
      <p:pic>
        <p:nvPicPr>
          <p:cNvPr id="7" name="Image 1" descr="img/b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463040"/>
            <a:ext cx="5349240" cy="334327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48640" y="498348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9" name="Text 5"/>
          <p:cNvSpPr txBox="1"/>
          <p:nvPr/>
        </p:nvSpPr>
        <p:spPr>
          <a:xfrm>
            <a:off x="777240" y="514807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completo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560527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→ Grupo → Rol → Permiso, con grants directos y vigencia. Pantallas de Usuarios, Grupos y Roles.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297680" y="498348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2" name="Text 8"/>
          <p:cNvSpPr txBox="1"/>
          <p:nvPr/>
        </p:nvSpPr>
        <p:spPr>
          <a:xfrm>
            <a:off x="4526280" y="514807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de cambios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560527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mutación con usuario, IP, entidad, operación y resultado; el login del ciudadano también queda registrado.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46720" y="4983480"/>
            <a:ext cx="3611880" cy="1371600"/>
          </a:xfrm>
          <a:prstGeom prst="roundRect">
            <a:avLst>
              <a:gd name="adj" fmla="val 8000"/>
            </a:avLst>
          </a:prstGeom>
          <a:solidFill>
            <a:srgbClr val="EEF2F6"/>
          </a:solidFill>
          <a:ln w="12700">
            <a:solidFill>
              <a:srgbClr val="EEF2F6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5" name="Text 11"/>
          <p:cNvSpPr txBox="1"/>
          <p:nvPr/>
        </p:nvSpPr>
        <p:spPr>
          <a:xfrm>
            <a:off x="8275320" y="514807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 irreversibles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8275320" y="560527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Bajas, anulaciones y payoffs piden confirmación explícita y quedan marcadas; la reversa contra-asienta, nunca borra.</a:t>
            </a:r>
            <a:endParaRPr lang="en-US" sz="115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Créditos online CCyPP · Portal del ciudadano y Back office</a:t>
            </a:r>
            <a:endParaRPr lang="en-US" sz="900" dirty="0"/>
          </a:p>
        </p:txBody>
      </p:sp>
      <p:sp>
        <p:nvSpPr>
          <p:cNvPr id="19" name="Text 14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y gobierno del sistema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principios y el modelo de datos viven dentro de la aplicación, no en un documento aparte.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577840" cy="3486150"/>
          </a:xfrm>
          <a:prstGeom prst="rect">
            <a:avLst/>
          </a:prstGeom>
          <a:solidFill>
            <a:srgbClr val="FFFFFF"/>
          </a:solidFill>
          <a:ln w="9525">
            <a:solidFill>
              <a:srgbClr val="DBE1EE"/>
            </a:solidFill>
            <a:prstDash val="solid"/>
          </a:ln>
          <a:effectLst>
            <a:outerShdw blurRad="1270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AR"/>
          </a:p>
        </p:txBody>
      </p:sp>
      <p:pic>
        <p:nvPicPr>
          <p:cNvPr id="5" name="Image 0" descr="img/b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5577840" cy="34861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09360" y="1463040"/>
            <a:ext cx="5349240" cy="3343275"/>
          </a:xfrm>
          <a:prstGeom prst="rect">
            <a:avLst/>
          </a:prstGeom>
          <a:solidFill>
            <a:srgbClr val="FFFFFF"/>
          </a:solidFill>
          <a:ln w="9525">
            <a:solidFill>
              <a:srgbClr val="DBE1EE"/>
            </a:solidFill>
            <a:prstDash val="solid"/>
          </a:ln>
          <a:effectLst>
            <a:outerShdw blurRad="127000" dist="38100" dir="54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AR"/>
          </a:p>
        </p:txBody>
      </p:sp>
      <p:pic>
        <p:nvPicPr>
          <p:cNvPr id="7" name="Image 1" descr="img/b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463040"/>
            <a:ext cx="5349240" cy="334327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" y="521208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 de arquitectura: </a:t>
            </a: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unicidad concurrente, idempotencia, motor único, event-sourcing con recompute, snapshot congelado, contabilidad balanceada, N-ojos.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Principios de diseño: </a:t>
            </a: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idénticas en todo el sistema, layout de ABM, pills de estado, formato es-AR, confirmación de acciones irreversibles.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b="1" dirty="0">
                <a:solidFill>
                  <a:srgbClr val="1A32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 de versión: </a:t>
            </a:r>
            <a:r>
              <a:rPr lang="en-US" sz="1150" dirty="0">
                <a:solidFill>
                  <a:srgbClr val="172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 (DER) generado desde el esquema real, catálogo de APIs, hitos, casos de prueba y migradores DBF → modelo.</a:t>
            </a:r>
            <a:endParaRPr lang="en-US" sz="1150" dirty="0"/>
          </a:p>
        </p:txBody>
      </p:sp>
      <p:sp>
        <p:nvSpPr>
          <p:cNvPr id="10" name="Text 5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Créditos online CCyPP · Portal del ciudadano y Back office</a:t>
            </a:r>
            <a:endParaRPr lang="en-US" sz="900" dirty="0"/>
          </a:p>
        </p:txBody>
      </p:sp>
      <p:sp>
        <p:nvSpPr>
          <p:cNvPr id="11" name="Text 6"/>
          <p:cNvSpPr txBox="1"/>
          <p:nvPr/>
        </p:nvSpPr>
        <p:spPr>
          <a:xfrm>
            <a:off x="1115568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6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325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resumen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6766560" cy="1097280"/>
          </a:xfrm>
          <a:prstGeom prst="roundRect">
            <a:avLst>
              <a:gd name="adj" fmla="val 10000"/>
            </a:avLst>
          </a:prstGeom>
          <a:solidFill>
            <a:srgbClr val="294D76"/>
          </a:solidFill>
          <a:ln w="12700">
            <a:solidFill>
              <a:srgbClr val="294D76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4" name="Text 2"/>
          <p:cNvSpPr txBox="1"/>
          <p:nvPr/>
        </p:nvSpPr>
        <p:spPr>
          <a:xfrm>
            <a:off x="960120" y="175564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1B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ciudadano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2121408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Simula, solicita y sigue su crédito desde el celular con su identidad de Mi Catamarca. Sin trámites presenciales.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31520" y="2971800"/>
            <a:ext cx="6766560" cy="1097280"/>
          </a:xfrm>
          <a:prstGeom prst="roundRect">
            <a:avLst>
              <a:gd name="adj" fmla="val 10000"/>
            </a:avLst>
          </a:prstGeom>
          <a:solidFill>
            <a:srgbClr val="294D76"/>
          </a:solidFill>
          <a:ln w="12700">
            <a:solidFill>
              <a:srgbClr val="294D76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7" name="Text 5"/>
          <p:cNvSpPr txBox="1"/>
          <p:nvPr/>
        </p:nvSpPr>
        <p:spPr>
          <a:xfrm>
            <a:off x="960120" y="308152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1B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Caja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447288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solicitud llega evaluada y documentada; aprobación con cuatro ojos, originación controlada y liquidación por lote.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31520" y="4297680"/>
            <a:ext cx="6766560" cy="1097280"/>
          </a:xfrm>
          <a:prstGeom prst="roundRect">
            <a:avLst>
              <a:gd name="adj" fmla="val 10000"/>
            </a:avLst>
          </a:prstGeom>
          <a:solidFill>
            <a:srgbClr val="294D76"/>
          </a:solidFill>
          <a:ln w="12700">
            <a:solidFill>
              <a:srgbClr val="294D76"/>
            </a:solidFill>
            <a:prstDash val="solid"/>
          </a:ln>
        </p:spPr>
        <p:txBody>
          <a:bodyPr/>
          <a:lstStyle/>
          <a:p>
            <a:endParaRPr lang="en-AR"/>
          </a:p>
        </p:txBody>
      </p:sp>
      <p:sp>
        <p:nvSpPr>
          <p:cNvPr id="10" name="Text 8"/>
          <p:cNvSpPr txBox="1"/>
          <p:nvPr/>
        </p:nvSpPr>
        <p:spPr>
          <a:xfrm>
            <a:off x="960120" y="440740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1BC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sistema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4773168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motor, una sola base, todo trazable. Lo simulado es lo contratado.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513064" y="740664"/>
            <a:ext cx="2573018" cy="5376672"/>
          </a:xfrm>
          <a:prstGeom prst="roundRect">
            <a:avLst>
              <a:gd name="adj" fmla="val 12438"/>
            </a:avLst>
          </a:prstGeom>
          <a:solidFill>
            <a:srgbClr val="17202E"/>
          </a:solidFill>
          <a:ln w="12700">
            <a:solidFill>
              <a:srgbClr val="17202E"/>
            </a:solidFill>
            <a:prstDash val="solid"/>
          </a:ln>
          <a:effectLst>
            <a:outerShdw blurRad="1524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AR"/>
          </a:p>
        </p:txBody>
      </p:sp>
      <p:pic>
        <p:nvPicPr>
          <p:cNvPr id="15" name="Image 0" descr="img/m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822960"/>
            <a:ext cx="2408426" cy="5212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2989</Words>
  <Application>Microsoft Macintosh PowerPoint</Application>
  <PresentationFormat>Widescreen</PresentationFormat>
  <Paragraphs>246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Créditos online — Portal del ciudadano y Back office</dc:title>
  <dc:subject>PptxGenJS Presentation</dc:subject>
  <dc:creator>CCyPP</dc:creator>
  <cp:lastModifiedBy>Hernan Carrascal</cp:lastModifiedBy>
  <cp:revision>2</cp:revision>
  <dcterms:created xsi:type="dcterms:W3CDTF">2026-09-14T15:42:52Z</dcterms:created>
  <dcterms:modified xsi:type="dcterms:W3CDTF">2026-09-14T15:50:44Z</dcterms:modified>
</cp:coreProperties>
</file>