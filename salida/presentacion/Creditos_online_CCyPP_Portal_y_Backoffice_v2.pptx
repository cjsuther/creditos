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circuito completo. Lo importante: no hay dos sistemas ni dos calculadoras. El portal público y el back office usan el mismo backend FastAPI, la misma base Postgres y la misma función de cronograma. Lo que el ciudadano simula es lo que después 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en una lámina. Dos front-ends, un backend, una base. Mi Catamarca es sólo identidad: confirma que la persona existe; los datos laborales los declara el ciudadano y los valida el asesor con la documentación adjunta.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pantalla del portal. Único punto de entrada: Mi Catamarca. Es un login OIDC estándar, con cliente confidencial: el código de autorización lo canjea el backend, el navegador nunca ve secretos.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1. Todo lo que el asesor necesita para evaluar, cargado por el propio ciudadano. La documentación se adjunta acá mismo y viaja con la solicitud.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2. Acá está la experiencia fintech: pre-aprobado, sliders y cuota en vivo. La elegibilidad es la misma función que usa el asesor, con el canal WEB. Si no califica se lo dice, pero puede enviar igual para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Transparencia total: el cronograma completo está a un clic, con impuestos y cargos desglosados. Es el mismo cronograma que va a quedar congelado en el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3. Confirmación. Dos detalles de robustez: la clave de idempotencia (no hay solicitudes duplicadas por reintentos) y la numeración única arbitrada por la constraint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enviar, el ciudadano cae en Mis solicitudes con el mensaje de confirmación y el número. El detalle abre con el stepper: cada paso sale del estado real de la solicitud en el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el ciclo: cuando la Caja liquida, el crédito aparece en Mis créditos con su servicing en tiempo real, leído del event-sourcing del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mayoría de los ciudadanos va a entrar desde el teléfono. El wizard, los sliders y las tablas se adaptan; el modo oscuro sigue la preferencia del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misma solicitud que enviamos desde el portal, vista por el asesor. Notar la evaluación automática con los motivos, los documentos adjuntos y el checklist 'listo para liquidar' que bloquea la originación si faltan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Separación de funciones real. El emisor no aprueba; los niveles se configuran por objeto. Hoy, con un solo administrador, algunos circuitos están inactivos para no trabar la demo; se activan al sumar un segundo aprobador.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lado operativo: originar desde una solicitud web siempre deja el contrato A LIQUIDAR; el desembolso se hace por lote, con su asiento contable balanceado. Después, el servicing es event-sourced: la verdad son las actividades y el estado se recalcula.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tipo Temenos AA: cada línea es un conjunto de componentes tipados, versionado y publicado con cuatro ojos. El componente 'Disponibilidad' es el que decide qué se ofrece en el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 de gestión y cobranza. Todo sale de las mismas actividades del contrato, así que el tablero y el portal siempre cuentan la misma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Seguridad: IAM con roles y permisos, y una auditoría de cambios que registra también lo que hace el ciudadano desde el portal (login, alta de solicitud, documentos).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lo que garantiza que el sistema siga siendo consistente cuando crezca: los principios se consultan en la app, el DER se genera desde la base real y cada bug suma su caso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2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2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 y Back office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ciudadano de Catamarca simula, solicita y sigue su crédito desde el celular, y cómo la Caja lo evalúa, aprueba y liquida desde el sistema nuevo.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663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Crédito y Prestaciones de Catamarca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760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 por</a:t>
            </a:r>
            <a:endParaRPr lang="en-US" sz="1100" dirty="0"/>
          </a:p>
        </p:txBody>
      </p:sp>
      <p:pic>
        <p:nvPicPr>
          <p:cNvPr id="10" name="Image 0" descr="img/bluun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89320"/>
            <a:ext cx="2377440" cy="59459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291840" y="6108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 tecnológico · bluunit.com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75704" y="740664"/>
            <a:ext cx="2573018" cy="5376672"/>
          </a:xfrm>
          <a:prstGeom prst="roundRect">
            <a:avLst>
              <a:gd name="adj" fmla="val 12438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img/m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22960"/>
            <a:ext cx="2408426" cy="52120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64624" y="1289304"/>
            <a:ext cx="2446258" cy="5102352"/>
          </a:xfrm>
          <a:prstGeom prst="roundRect">
            <a:avLst>
              <a:gd name="adj" fmla="val 13083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img/m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371600"/>
            <a:ext cx="22816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circuito completo, de punta a punta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sistema: el portal público y el back office comparten backend, base de datos y motor de cálculo.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Catamarca valida la identidad del ciudadano (OIDC).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157984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40864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0864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2340864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40864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publicados por la Caja; cuota en vivo y pre-aprobado.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767328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50208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020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documentación, CBU y consentimientos. Número único.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376672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9F4D6"/>
          </a:solidFill>
          <a:ln w="12700">
            <a:solidFill>
              <a:srgbClr val="E9F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59552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5955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" dirty="0"/>
          </a:p>
        </p:txBody>
      </p:sp>
      <p:sp>
        <p:nvSpPr>
          <p:cNvPr id="25" name="Text 23"/>
          <p:cNvSpPr txBox="1"/>
          <p:nvPr/>
        </p:nvSpPr>
        <p:spPr>
          <a:xfrm>
            <a:off x="5559552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59552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la ve en Solicitudes de crédito; elegibilidad automática.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986016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9F4D6"/>
          </a:solidFill>
          <a:ln w="12700">
            <a:solidFill>
              <a:srgbClr val="E9F4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8896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68896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80" dirty="0"/>
          </a:p>
        </p:txBody>
      </p:sp>
      <p:sp>
        <p:nvSpPr>
          <p:cNvPr id="31" name="Text 29"/>
          <p:cNvSpPr txBox="1"/>
          <p:nvPr/>
        </p:nvSpPr>
        <p:spPr>
          <a:xfrm>
            <a:off x="7168896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68896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Cuatro-ojos configurable: el que emite no aprueba.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449056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595360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9F4D6"/>
          </a:solidFill>
          <a:ln w="12700">
            <a:solidFill>
              <a:srgbClr val="E9F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782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8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 → lote del día → desembolso y asiento contable.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0204704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87584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387584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80" dirty="0"/>
          </a:p>
        </p:txBody>
      </p:sp>
      <p:sp>
        <p:nvSpPr>
          <p:cNvPr id="43" name="Text 41"/>
          <p:cNvSpPr txBox="1"/>
          <p:nvPr/>
        </p:nvSpPr>
        <p:spPr>
          <a:xfrm>
            <a:off x="10387584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0387584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ve el estado y luego sus cuotas en 'Mis créditos'.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120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A3258"/>
          </a:solidFill>
          <a:ln w="12700">
            <a:solidFill>
              <a:srgbClr val="1A325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120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5120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26080" y="5120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de la Caja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0" y="50749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simulado = contratado. El cronograma que ve el ciudadano es exactamente el que se origina.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52" name="Image 0" descr="img/bluuni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armado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aplicaciones web, un backend, una base. La identidad del ciudadano la pone la Provincia.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A3258"/>
          </a:solidFill>
          <a:ln w="12700">
            <a:solidFill>
              <a:srgbClr val="1A325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214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pública (React/Vite). Login con Mi Catamarca, simulador, wizard de 3 pasos, Mis solicitudes, Mis créditos, notificaciones. Responsive.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CCyPP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1214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interna (React/Vite). Configurar Créditos, Solicitudes, Inbox de aprobaciones, Originación, Liquidación por lote, Caja, Tablero, Seguridad.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496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Catamarca (OIDC)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1214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provincial. Authorization Code, cliente confidencial; el portal nunca ve la contraseña. Sólo confirma que la persona existe.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3017520"/>
            <a:ext cx="0" cy="548640"/>
          </a:xfrm>
          <a:prstGeom prst="line">
            <a:avLst/>
          </a:prstGeom>
          <a:noFill/>
          <a:ln w="19050">
            <a:solidFill>
              <a:srgbClr val="5561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3017520"/>
            <a:ext cx="0" cy="548640"/>
          </a:xfrm>
          <a:prstGeom prst="line">
            <a:avLst/>
          </a:prstGeom>
          <a:noFill/>
          <a:ln w="19050">
            <a:solidFill>
              <a:srgbClr val="5561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2331720"/>
            <a:ext cx="777240" cy="0"/>
          </a:xfrm>
          <a:prstGeom prst="line">
            <a:avLst/>
          </a:prstGeom>
          <a:noFill/>
          <a:ln w="19050">
            <a:solidFill>
              <a:srgbClr val="55617A"/>
            </a:solidFill>
            <a:prstDash val="dash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3566160"/>
            <a:ext cx="6995160" cy="1234440"/>
          </a:xfrm>
          <a:prstGeom prst="roundRect">
            <a:avLst>
              <a:gd name="adj" fmla="val 8889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67588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único · FastAPI (Python)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4164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dos realms de token (portal / interno). Motor único de cálculo (cronograma), elegibilidad, pre-aprobado, idempotencia en altas, numeración única con la base como árbitro, workflow N-ojos, auditoría de cambios.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4800600"/>
            <a:ext cx="0" cy="457200"/>
          </a:xfrm>
          <a:prstGeom prst="line">
            <a:avLst/>
          </a:prstGeom>
          <a:noFill/>
          <a:ln w="19050">
            <a:solidFill>
              <a:srgbClr val="5561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5257800"/>
            <a:ext cx="6995160" cy="868680"/>
          </a:xfrm>
          <a:prstGeom prst="roundRect">
            <a:avLst>
              <a:gd name="adj" fmla="val 12632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536752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73328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base: productos (pp_*), solicitudes, contratos, actividades (event-sourcing), asientos contables, documentos adjuntos, auditoría.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5661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simula sobre los productos publicados del product builder; la originación usa la misma función.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Segregación: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del ciudadano tiene alcance 'portal' y sólo ve lo propio (solicitudes y créditos de su identidad).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:5174, back office :5173, backend :8000 y base Postgres, todo en un compose.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pendientes: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SSO real sólo requiere cargar las credenciales y registrar el redirect en Mi Catamarca.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26" name="Image 0" descr="img/bluuni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2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Simular, solicitar y seguir el crédito sin ir a la Caja.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21624" y="740664"/>
            <a:ext cx="2573018" cy="5376672"/>
          </a:xfrm>
          <a:prstGeom prst="roundRect">
            <a:avLst>
              <a:gd name="adj" fmla="val 12438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img/m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822960"/>
            <a:ext cx="240842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Mi Catamarca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no crea una cuenta nueva: usa la identidad digital de la Provincia.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1737360"/>
            <a:ext cx="5669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566928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0" y="1554480"/>
            <a:ext cx="3520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botón.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'Ingresar con Mi Catamarca' redirige al login provincial y vuelve al portal con la sesión iniciada.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Authorization Code.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confidencial; el intercambio del código lo hace el backend. El portal nunca ve la contraseña.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no haberes.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Catamarca confirma que la persona existe; los datos laborales los declara el ciudadano en el paso 1.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propia.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 alcance 'portal', separado del token interno del back office. Si vence, vuelve al login sin perder nada.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demo.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 reales el backend simula el proveedor, lo que permite mostrar el circuito completo hoy.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9" name="Image 1" descr="img/bluuni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Tus datos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situación laboral, destino del crédito y documentación, todo en una pantalla.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591251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0" descr="img/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591251" cy="4846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apellido, nombre, DNI y situación laboral (empleado público, municipal, docente, jubilado, pensionado, contratado…).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calificar: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antigüedad y sueldo neto alimentan la elegibilidad y la afectación de la cuota.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vivienda, vehículo, consumo, educación, salud… (opcional) llega al asesor para la evaluación.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frente/dorso y recibo de sueldo (JPG, PNG o PDF hasta 5 MB). Se suben junto con la solicitud.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guardar y retomar más tarde desde el mismo dispositivo, sin ensuciar la bandeja de la Caja.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1" name="Image 1" descr="img/bluuni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Simulación en vivo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producto, mueve monto y cuotas, y ve al instante cuánto paga y si califica.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19132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0" descr="img/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19132" cy="4846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publicados.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las líneas que la Caja publicó en Configurar Créditos y habilitó para el canal web.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Pre-aprobado.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sueldo declarado, el portal calcula hasta cuánto puede pedir con una afectación máxima del 30 %.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con recálculo.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y cuotas dentro del rango del producto; la cuota se recalcula sin apretar 'Simular'.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claro.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promedio, total a pagar, intereses, CFT, TNA/TEA y el aviso '✓ Con tus datos calificás'.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corre sobre el motor del back office: lo que ve acá es lo que se contrata.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1" name="Image 1" descr="img/bluuni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Transparencia: el detalle de cada cuota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interés, cargos e impuestos, cuota por cuota, antes de enviar.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63794" y="1463040"/>
            <a:ext cx="5319132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794" y="1463040"/>
            <a:ext cx="5319132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1719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= contratado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176272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cronograma que se muestra al ciudadano lo genera la misma función que usa la Caja para originar y para el servicing. No hay 'versión web' del cálculo.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384048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4005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462272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amortización (francés, alemán, directo, cuota fija), TNA/TEA/CFT, cargos e impuestos configurados por producto, fechas de vencimiento con calendario de feriados.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4" name="Image 1" descr="img/bluuni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Confirmación y envío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CBU de acreditación y consentimientos. Un clic y la solicitud queda en la Caja.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857114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0" descr="img/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857114" cy="4846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completo.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monto, cuotas, cuota estimada, total, tasas, solicitante, DNI, situación, destino, sueldo y afectación.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 de 22 dígitos.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 el navegador y en el backend; es donde se acredita el desembolso.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Consentimientos obligatorios.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y condiciones + tratamiento de datos personales, persistidos con la solicitud.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idempotente.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envío lleva una clave única: un doble clic o un corte de red no generan dos solicitudes.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único.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SOL-AAAA-NNNNN asignado por 'primer libre' con la base como árbitro, sin locks aplicativos.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1" name="Image 1" descr="img/bluuni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solicitudes: seguimiento del expediente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sabe en qué etapa está su trámite sin llamar ni ir a la Caja.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32145" y="1463040"/>
            <a:ext cx="3010829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2145" y="1463040"/>
            <a:ext cx="3010829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32145" y="3657600"/>
            <a:ext cx="3010829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p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145" y="3657600"/>
            <a:ext cx="3010829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92240" y="15544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propio.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las solicitudes de su identidad: producto, monto, cuotas, cuota estimada, fecha y estado con pills.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de seguimiento.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 → En evaluación → Aprobada → Otorgada (o Rechazada, con el motivo).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con cronograma.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KPIs y cuotas que vio al simular, para consultarlos cuando quiera.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derivado del core.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copia 'web' del estado: el portal lee la solicitud real del back office.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1" name="Image 2" descr="img/bluuni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créditos y notificaciones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otorgado, el crédito vive en el portal: saldo, cuotas pagadas y próxima cuota.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57958" y="1463040"/>
            <a:ext cx="2559205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p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958" y="1463040"/>
            <a:ext cx="2559205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2867" y="3931920"/>
            <a:ext cx="2609385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p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867" y="3931920"/>
            <a:ext cx="2609385" cy="2377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27238" y="1463040"/>
            <a:ext cx="2559205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9" name="Image 2" descr="img/p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238" y="1463040"/>
            <a:ext cx="2559205" cy="23317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55080" y="397764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por crédito: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contrato, estado (activo, en proceso, en mora), barra de progreso, cuotas pagadas, saldo y próxima cuota.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por cuota con vencimiento, importe, pagado y estado (pagada, pendiente, vencida).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campana avisa cuando un crédito fue otorgado y otros hitos del expediente.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3" name="Image 3" descr="img/bluunit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celular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es responsive y respeta el modo oscuro del dispositivo. Sin scroll horizontal a 375 px.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3504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img/m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943642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1194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1" descr="img/m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490" y="1600200"/>
            <a:ext cx="1943642" cy="4206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30610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258883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img/m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179" y="1600200"/>
            <a:ext cx="1943642" cy="4206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58299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586573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img/m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869" y="1600200"/>
            <a:ext cx="1943642" cy="42062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85989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9914263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4" descr="img/m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559" y="1600200"/>
            <a:ext cx="1943642" cy="42062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813679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21" name="Image 5" descr="img/bluunit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2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de la Caja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con la solicitud una vez que entra al sistema.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2000250"/>
            <a:ext cx="4572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6" name="Image 0" descr="img/b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00025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crédito: la bandeja del asesor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web llega 'En evaluación', marcada con origen portal, con su evaluación automática y sus adjuntos.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68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b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498080" cy="46863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0" y="1554480"/>
            <a:ext cx="3337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estado: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borrador, en evaluación, aprobada, rechazada, originada, anulada.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automática: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segmento, canal, edad, antigüedad y afectación contra las reglas del producto; el resultado y los motivos quedan a la vista.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DNI y el recibo que subió el ciudadano se abren desde acá.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para liquidar: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nombre + DNI + CBU (obligatorios) y CUIL/sueldo (deseables). Si falta algo, no se puede originar.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Aprobar, Rechazar (con motivo), Anular, Dar de alta en maestro y Originar contrato.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9" name="Image 1" descr="img/bluuni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con cuatro ojos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aprueba lo que emitió. El circuito es configurable por objeto y por niveles.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b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b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de aprobaciones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esperan una firma: solicitudes, líneas de crédito, desembolsos, refinanciaciones. Quien pidió no ve su propia tarea.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2628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configurable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→ Workflow: disparador, niveles en serie (rol que aprueba en cada uno) y fin. Se activa o desactiva por objeto.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aprobación o rechazo queda con usuario, fecha y resultado en la auditoría de cambios.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9" name="Image 2" descr="img/bluuni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Originación, liquidación por lote y servicing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no desembolsa: el contrato queda A LIQUIDAR y se paga en el lote del día.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b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b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222199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42316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42316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Originar contrato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09651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29768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9768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LIQUIDAR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97103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17220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7220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del día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04672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04672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 + asiento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972007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992124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92124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en el portal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por lote agrupa los contratos por día de originación; liquidar el lote desembolsa todos (respetando el workflow de desembolso). Situación del cliente muestra los contratos, saldos, próximas cuotas y mora, reconstruidos desde las actividades (event-sourcing).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28" name="Image 2" descr="img/bluuni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Créditos: el product builder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 que el ciudadano ve en el portal nacen acá: componentes, versiones, revisión y publicación.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b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77840" cy="3486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b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versionado: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→ en revisión → publicado; el contrato congela la versión con la que se originó.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y plazo, intereses, cronograma, reglas de pago, cargos, impuestos, mora, cancelación anticipada, liquidación, contabilidad y disponibilidad (segmentos y canales).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web: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los productos con canal WEB habilitado se ofrecen en el portal; el resto queda para sucursal o convenio.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1" name="Image 2" descr="img/bluuni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cartera y Caja de créditos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otorgó, cómo se cobra y cómo viene la cartera.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b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b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9834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5148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cartera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0527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saldo vigente, capital colocado, cobrado, cuotas pagadas y mora; análisis por estado, sistema, línea o rango de saldo; exportable a Excel.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17920" y="49834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46520" y="5148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créditos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560527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de cuotas (total, parcial o prepago) por medio de pago; cada cobro registra la actividad y su asiento en el libro diario.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6" name="Image 2" descr="img/bluuni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trazabilidad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hacer qué, y quién hizo qué.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b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b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completo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→ Grupo → Rol → Permiso, con grants directos y vigencia. Pantallas de Usuarios, Grupos y Roles.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2628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cambios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mutación con usuario, IP, entidad, operación y resultado; el login del ciudadano también queda registrado.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7532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irreversibles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Bajas, anulaciones y payoffs piden confirmación explícita y quedan marcadas; la reversa contra-asienta, nunca borra.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9" name="Image 2" descr="img/bluuni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gobierno del sistema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y el modelo de datos viven dentro de la aplicación, no en un documento aparte.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img/b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77840" cy="3486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img/b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arquitectura: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 concurrente, idempotencia, motor único, event-sourcing con recompute, snapshot congelado, contabilidad balanceada, N-ojos.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idénticas en todo el sistema, layout de ABM, pills de estado, formato es-AR, confirmación de acciones irreversibles.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versión: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(DER) generado desde el esquema real, catálogo de APIs, hitos, casos de prueba y migradores DBF → modelo.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pic>
        <p:nvPicPr>
          <p:cNvPr id="11" name="Image 2" descr="img/bluunit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6428232"/>
            <a:ext cx="1005840" cy="25155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32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ciudadano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21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Simula, solicita y sigue su crédito desde el celular con su identidad de Mi Catamarca. Sin trámites presenciales.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081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Caja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472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llega evaluada y documentada; aprobación con cuatro ojos, originación controlada y liquidación por lote.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407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sistema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7731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motor, una sola base, todo trazable. Lo simulado es lo contratado.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669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 por</a:t>
            </a:r>
            <a:endParaRPr lang="en-US" sz="1100" dirty="0"/>
          </a:p>
        </p:txBody>
      </p:sp>
      <p:pic>
        <p:nvPicPr>
          <p:cNvPr id="13" name="Image 0" descr="img/bluun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0"/>
            <a:ext cx="2377440" cy="59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3291840" y="5943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 Unit acelera la construcción de la solución: portal, back office y motor de crédito en un solo sistema · bluunit.com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13064" y="740664"/>
            <a:ext cx="2573018" cy="5376672"/>
          </a:xfrm>
          <a:prstGeom prst="roundRect">
            <a:avLst>
              <a:gd name="adj" fmla="val 12438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1" descr="img/m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822960"/>
            <a:ext cx="2408426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Créditos online — Portal del ciudadano y Back office</dc:title>
  <dc:subject>PptxGenJS Presentation</dc:subject>
  <dc:creator>CCyPP</dc:creator>
  <cp:lastModifiedBy>CCyPP</cp:lastModifiedBy>
  <cp:revision>1</cp:revision>
  <dcterms:created xsi:type="dcterms:W3CDTF">2026-09-14T16:15:47Z</dcterms:created>
  <dcterms:modified xsi:type="dcterms:W3CDTF">2026-09-14T16:15:47Z</dcterms:modified>
</cp:coreProperties>
</file>